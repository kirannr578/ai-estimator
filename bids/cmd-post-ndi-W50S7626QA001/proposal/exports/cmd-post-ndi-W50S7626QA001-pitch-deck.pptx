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p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704" y="777240"/>
            <a:ext cx="2743200" cy="19401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3774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4A017"/>
                </a:solidFill>
                <a:latin typeface="Calibri"/>
              </a:rPr>
              <a:t>BLUE PRINT CONSTRUCTS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1127729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Proposal package — W50S7626QA001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3484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Solicitation: W50S7626QA001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38190" y="5029200"/>
            <a:ext cx="9144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2120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FFFF"/>
                </a:solidFill>
                <a:latin typeface="Calibri"/>
              </a:rPr>
              <a:t>Blue Print Constructs (legal: RK Residential Homes and Commercial Constructions, LLC)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6235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4A017"/>
                </a:solidFill>
                <a:latin typeface="Calibri"/>
              </a:rPr>
              <a:t>Submission date __________   ·   Document prepared 2026-05-23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About Blue Print Constructs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Blue Print Constructs — legal entity RK Residential Homes and Commercial Constructions, LLC; founded 2022, Texas-incorporated, founder-led.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NAICS: primary 236220 (Commercial &amp; Institutional Building Construction); 13 codes registered.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Federal IDs: UEI LM4YHVQ71QG7 · CAGE 9LET0 · SAM.gov status: active.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Set-aside posture: Texas HUB, DFW MSDC MBE, Small Business, Minority-owned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Self-perform trades: Interior and exterior painting, Drywall and sheetrock — install, tape, bed, texture, Tile setting, Flooring — laminate, vinyl, LVT, tile, hardwood refinish, Trims and baseboards / crown molding / interior carpentry, Roofing (composition, flat, metal — repairs and replacement).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cmd-post-ndi-W50S7626QA001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Project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The SF 1442 is the cover form; the **Schedule of Prices** is the firm-fixed-price-per-CLIN table that goes on the SF 1442 (Block 22 area) and/or as a separately-attached page.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(See full proposal for additional detail.)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(See full proposal for additional detail.)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cmd-post-ndi-W50S7626QA001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Technical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B2545"/>
                </a:solidFill>
                <a:latin typeface="Calibri"/>
              </a:rPr>
              <a:t>A. Subfactor 1:</a:t>
            </a:r>
            <a:r>
              <a:rPr sz="1700" b="0" i="0">
                <a:solidFill>
                  <a:srgbClr val="1A1F26"/>
                </a:solidFill>
                <a:latin typeface="Calibri"/>
              </a:rPr>
              <a:t> Format: 2–4-page itemized list, CSI-divided. Section L paragraph (a)(1) explicit guidance: *"An example submission would be an RSMeans output list or a similar product."*</a:t>
            </a:r>
          </a:p>
          <a:p>
            <a:pPr algn="l"/>
            <a:r>
              <a:rPr sz="1700" b="1" i="0">
                <a:solidFill>
                  <a:srgbClr val="0B2545"/>
                </a:solidFill>
                <a:latin typeface="Calibri"/>
              </a:rPr>
              <a:t>B. Subfactor 2:</a:t>
            </a:r>
            <a:r>
              <a:rPr sz="1700" b="0" i="0">
                <a:solidFill>
                  <a:srgbClr val="1A1F26"/>
                </a:solidFill>
                <a:latin typeface="Calibri"/>
              </a:rPr>
              <a:t> Format: **1-page Gantt PDF** for the 90-day POP, with both CLINs as parallel-or-sequential tracks.</a:t>
            </a:r>
          </a:p>
          <a:p>
            <a:pPr algn="l"/>
            <a:r>
              <a:rPr sz="1700" b="1" i="0">
                <a:solidFill>
                  <a:srgbClr val="0B2545"/>
                </a:solidFill>
                <a:latin typeface="Calibri"/>
              </a:rPr>
              <a:t>C. Optional value-add elements (Section M (a)(v):</a:t>
            </a:r>
            <a:r>
              <a:rPr sz="1700" b="0" i="0">
                <a:solidFill>
                  <a:srgbClr val="1A1F26"/>
                </a:solidFill>
                <a:latin typeface="Calibri"/>
              </a:rPr>
              <a:t> "Government may take more than the minimum"): Per Section M (a)(v): *"The Government reserves the right to consider a quote which offers more than the minimum and select that quote if it pr…</a:t>
            </a:r>
          </a:p>
          <a:p>
            <a:pPr algn="l"/>
            <a:r>
              <a:rPr sz="1700" b="1" i="0">
                <a:solidFill>
                  <a:srgbClr val="0B2545"/>
                </a:solidFill>
                <a:latin typeface="Calibri"/>
              </a:rPr>
              <a:t>D. Final submission package format:</a:t>
            </a:r>
            <a:r>
              <a:rPr sz="1700" b="0" i="0">
                <a:solidFill>
                  <a:srgbClr val="1A1F26"/>
                </a:solidFill>
                <a:latin typeface="Calibri"/>
              </a:rPr>
              <a:t> | Document | Format | Pages | |---|---|---| | SF 1442 (signed) | PDF (scan) | 2 (front + back) | | Schedule of Prices | PDF | 1 | | Subfactor 1 list | PDF | 2–4 | | Subfactor 2 schedule (Gantt) | PDF…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cmd-post-ndi-W50S7626QA001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Project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400800"/>
              </a:tblGrid>
              <a:tr h="22860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Named lead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</a:tr>
              <a:tr h="22860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Project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____________________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cmd-post-ndi-W50S7626QA001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Past performance — Project 1 of 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B2545"/>
                </a:solidFill>
                <a:latin typeface="Calibri"/>
              </a:rPr>
              <a:t>Hindu Temple of Southlake — Place of Religious Worship renovation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750"/>
                </a:solidFill>
                <a:latin typeface="Calibri"/>
              </a:rPr>
              <a:t>Owner: North Texas Hindu Heritage Society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04288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750"/>
                </a:solidFill>
                <a:latin typeface="Calibri"/>
              </a:rPr>
              <a:t>Contract value: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96896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750"/>
                </a:solidFill>
                <a:latin typeface="Calibri"/>
              </a:rPr>
              <a:t>Completion: 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9504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750"/>
                </a:solidFill>
                <a:latin typeface="Calibri"/>
              </a:rPr>
              <a:t>Role: GC   ·   Delivery: Negotiated lump-sum (owner direct)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46120"/>
            <a:ext cx="9144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Scope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03320"/>
            <a:ext cx="1127729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F26"/>
                </a:solidFill>
                <a:latin typeface="Calibri"/>
              </a:rPr>
              <a:t>≈10,700 SF Assembly A-3 (Place of Religious Worship) renovation including demolition, finishes, toilet partitions (phenolic), and partition framework. Drawings on file dated 2025-06-20 (PDF), 2025-09-12 (Arch + Structural updates).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cmd-post-ndi-W50S7626QA001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Past performance — Project 2 of 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B2545"/>
                </a:solidFill>
                <a:latin typeface="Calibri"/>
              </a:rPr>
              <a:t>Holiday Inn (Hall Park) — hospitality renovation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750"/>
                </a:solidFill>
                <a:latin typeface="Calibri"/>
              </a:rPr>
              <a:t>Owner: Holiday Inn franchisee at Hall Park, Frisco, 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04288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750"/>
                </a:solidFill>
                <a:latin typeface="Calibri"/>
              </a:rPr>
              <a:t>Contract value: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96896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750"/>
                </a:solidFill>
                <a:latin typeface="Calibri"/>
              </a:rPr>
              <a:t>Completion: 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9504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750"/>
                </a:solidFill>
                <a:latin typeface="Calibri"/>
              </a:rPr>
              <a:t>Role: GC   ·   Delivery: —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46120"/>
            <a:ext cx="9144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Scope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03320"/>
            <a:ext cx="1127729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F26"/>
                </a:solidFill>
                <a:latin typeface="Calibri"/>
              </a:rPr>
              <a:t>Commercial renovation projects for hospitality client per Rocky Nudurupati's professional profile.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cmd-post-ndi-W50S7626QA001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Past performance — Project 3 of 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B2545"/>
                </a:solidFill>
                <a:latin typeface="Calibri"/>
              </a:rPr>
              <a:t>Lavon RV Park — 30-lot RV park new construction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750"/>
                </a:solidFill>
                <a:latin typeface="Calibri"/>
              </a:rPr>
              <a:t>Owner: Lavon Leisure 78 RV Park LLC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04288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750"/>
                </a:solidFill>
                <a:latin typeface="Calibri"/>
              </a:rPr>
              <a:t>Contract value: $1,050,000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96896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750"/>
                </a:solidFill>
                <a:latin typeface="Calibri"/>
              </a:rPr>
              <a:t>Completion: 2026-04-30 (per contract; status not in source file)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9504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750"/>
                </a:solidFill>
                <a:latin typeface="Calibri"/>
              </a:rPr>
              <a:t>Role: GC   ·   Delivery: Design-Bid-Build (fixed lump-sum)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46120"/>
            <a:ext cx="9144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Scope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03320"/>
            <a:ext cx="1127729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F26"/>
                </a:solidFill>
                <a:latin typeface="Calibri"/>
              </a:rPr>
              <a:t>Build 30 RV lots: mobilization + excavation, rough grade, driveway/culvert, utility trenching (electrical, plumbing, septic), individual meters per lot, water lines, septic tank + sewer, final grading, storm drain + detention, rip-rap, 6-ft cedar wood fencing each lot, metal gate each lot, 8x8 storage shed each lot, 30 trees, mulch + sod, park lights, dumpster/storage/laundromat sheds, 150-LF retaining wall, laundromat building. Storm shelter in scope.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cmd-post-ndi-W50S7626QA001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Schedule milestones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400800"/>
              </a:tblGrid>
              <a:tr h="9144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Date / duration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Notice to proceed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____________________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Mobilization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____________________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Substantial completion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____________________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Final completion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____________________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cmd-post-ndi-W50S7626QA001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Quality &amp; safety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QC: A bondability letter is a one-page statement from the firm's surety on the surety's letterhead, indicating willingness to issue Performance and Payment bonds for the W50S7626QA001 contract at award. **Not strictly required at bid** (FA…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Safety: A bid bond is a one-page Standard Form 24 (Bid Bond) that the bonding agent issues for the offeror. **Required with the offer** per Section L paragraph (a)(2) NOTE: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(Additional QC / safety detail in the full proposal.)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(Additional QC / safety detail in the full proposal.)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cmd-post-ndi-W50S7626QA001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Price proposal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77295" cy="18288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73152" cy="18288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4750"/>
                </a:solidFill>
                <a:latin typeface="Calibri"/>
              </a:rPr>
              <a:t>TOTAL PROPOSED 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B2545"/>
                </a:solidFill>
                <a:latin typeface="Calibri"/>
              </a:rPr>
              <a:t>$____________________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F26"/>
                </a:solidFill>
                <a:latin typeface="Calibri"/>
              </a:rPr>
              <a:t>The morning-of mechanics. Use this as the literal step-by-step list on submission day.</a:t>
            </a:r>
          </a:p>
          <a:p>
            <a:pPr algn="l"/>
            <a:r>
              <a:rPr sz="1500" b="0" i="0">
                <a:solidFill>
                  <a:srgbClr val="1A1F26"/>
                </a:solidFill>
                <a:latin typeface="Calibri"/>
              </a:rPr>
              <a:t>(See full proposal for itemized pricing detail.)</a:t>
            </a:r>
          </a:p>
          <a:p>
            <a:pPr algn="l"/>
            <a:r>
              <a:rPr sz="1500" b="0" i="0">
                <a:solidFill>
                  <a:srgbClr val="1A1F26"/>
                </a:solidFill>
                <a:latin typeface="Calibri"/>
              </a:rPr>
              <a:t>(See full proposal for itemized pricing detail.)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cmd-post-ndi-W50S7626QA001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Why Blue Print Constructs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Texas-based small business — self-perform across 8 core trades.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Diverse-business posture: TX HUB, DFW MSDC MBE, Small Business, Minority-owned.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Sector breadth: Residential, Commercial, Industrial, Institutional.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Founder-led PMP / CSM operator with 22 years delivery leadership — Ravikiran (Rocky) Nudurupati.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cmd-post-ndi-W50S7626QA001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4A017"/>
                </a:solidFill>
                <a:latin typeface="Calibri"/>
              </a:rPr>
              <a:t>THANK YOU FOR YOUR CONSIDERATION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38190" y="3108960"/>
            <a:ext cx="9144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Ravikiran (Rocky) Nudurupati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673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Founder &amp; Managing Director / Owner (100%)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5137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rocky@blueprintconstructs.com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3542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(469) 213-1838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19472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https://www.blueprintconstructs.com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4A017"/>
                </a:solidFill>
                <a:latin typeface="Calibri"/>
              </a:rPr>
              <a:t>Bid cmd-post-ndi-W50S7626QA001   ·   2026-05-23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