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p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704" y="777240"/>
            <a:ext cx="2743200" cy="19401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3774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4A017"/>
                </a:solidFill>
                <a:latin typeface="Calibri"/>
              </a:rPr>
              <a:t>BLUE PRINT CONSTRUCTS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112772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Proposal package — USFWS San Marcos ARC, Sol 140FC126R0017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3484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Solicitation: 140FC126R0017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638190" y="5029200"/>
            <a:ext cx="9144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2120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  <a:latin typeface="Calibri"/>
              </a:rPr>
              <a:t>Blue Print Constructs (legal: RK Residential Homes and Commercial Constructions, LLC)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235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4A017"/>
                </a:solidFill>
                <a:latin typeface="Calibri"/>
              </a:rPr>
              <a:t>Submission date __________   ·   Document prepared 2026-05-23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About Blue Print Constructs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Blue Print Constructs — legal entity RK Residential Homes and Commercial Constructions, LLC; founded 2022, Texas-incorporated, founder-led.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NAICS: primary 236220 (Commercial &amp; Institutional Building Construction); 13 codes registered.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Federal IDs: UEI LM4YHVQ71QG7 · CAGE 9LET0 · SAM.gov status: active.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Set-aside posture: Texas HUB, DFW MSDC MBE, Small Business, Minority-owned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Self-perform trades: Interior and exterior painting, Drywall and sheetrock — install, tape, bed, texture, Tile setting, Flooring — laminate, vinyl, LVT, tile, hardwood refinish, Trims and baseboards / crown molding / interior carpentry, Roofing (composition, flat, metal — repairs and replacement).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usfws-san-marcos-140FC126R0017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Project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Source documents: RFP §B (pp.6–7) + §L.1.1 + §L.2.1.1.A + §L.2.1.2 (pp.63–66) + §M.1.9 (p.73) + Attachment 2 (Bid Schedule, 1 page). CLIN structure source of truth: **`../05-bid-schedule-mapping.md`**. Do not invent CLIN order, descriptions, units, or quantities in this volume; mirror Attachment 2 exactly.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(See full proposal for additional detail.)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(See full proposal for additional detail.)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usfws-san-marcos-140FC126R0017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Technical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A. Volume II assembly order (one PDF):</a:t>
            </a:r>
            <a:r>
              <a:rPr sz="1700" b="0" i="0">
                <a:solidFill>
                  <a:srgbClr val="1A1F26"/>
                </a:solidFill>
                <a:latin typeface="Calibri"/>
              </a:rPr>
              <a:t> | # | Element | Page count | Source / template | |---|---|:---:|---| | 1 | **Cover sheet** | 1 | Solicitation #, project name, offeror name, UEI, CAGE, "Part II — Technical Acceptability" | | 2 | **P…</a:t>
            </a:r>
          </a:p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B. SAM Reps &amp; Certs incorporation page (L.2.1.4 + FAR 52.204-8(d)):</a:t>
            </a:r>
            <a:r>
              <a:rPr sz="1700" b="0" i="0">
                <a:solidFill>
                  <a:srgbClr val="1A1F26"/>
                </a:solidFill>
                <a:latin typeface="Calibri"/>
              </a:rPr>
              <a:t> Paste this on a single page. Sign and date.</a:t>
            </a:r>
          </a:p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C. What is required to Pass:</a:t>
            </a:r>
            <a:r>
              <a:rPr sz="1700" b="0" i="0">
                <a:solidFill>
                  <a:srgbClr val="1A1F26"/>
                </a:solidFill>
                <a:latin typeface="Calibri"/>
              </a:rPr>
              <a:t> Re-stated from `../06-evaluation-strategy.md` § E so the assembler can tick each one without context-switching.</a:t>
            </a:r>
          </a:p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D. Negative-narrative risks (things to actively NOT write):</a:t>
            </a:r>
            <a:r>
              <a:rPr sz="1700" b="0" i="0">
                <a:solidFill>
                  <a:srgbClr val="1A1F26"/>
                </a:solidFill>
                <a:latin typeface="Calibri"/>
              </a:rPr>
              <a:t> Re-stated from `../06-evaluation-strategy.md` § G. Each of these can convert a Pass into a Fail on a literal reading:</a:t>
            </a:r>
          </a:p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E. Optional content that's defensible (but skip unless it Passes a value test):</a:t>
            </a:r>
            <a:r>
              <a:rPr sz="1700" b="0" i="0">
                <a:solidFill>
                  <a:srgbClr val="1A1F26"/>
                </a:solidFill>
                <a:latin typeface="Calibri"/>
              </a:rPr>
              <a:t> These are **NOT required** by Section L; include only if there's a specific reason:</a:t>
            </a:r>
          </a:p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F. The 1-paragraph rule for past-performance write-ups:</a:t>
            </a:r>
            <a:r>
              <a:rPr sz="1700" b="0" i="0">
                <a:solidFill>
                  <a:srgbClr val="1A1F26"/>
                </a:solidFill>
                <a:latin typeface="Calibri"/>
              </a:rPr>
              <a:t> For each past project, ONE paragraph of 3–4 sentences after the data table: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usfws-san-marcos-140FC126R0017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Project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400800"/>
              </a:tblGrid>
              <a:tr h="22860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Named lead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</a:tr>
              <a:tr h="22860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Project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____________________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usfws-san-marcos-140FC126R0017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Past performance — Project 1 of 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B2545"/>
                </a:solidFill>
                <a:latin typeface="Calibri"/>
              </a:rPr>
              <a:t>Lavon RV Park — 30-lot RV park new 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Owner: Lavon Leisure 78 RV Park LLC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04288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Contract value: $1,050,000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96896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Completion: 2026-04-30 (per contract; status not in source file)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9504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Role: GC   ·   Delivery: Design-Bid-Build (fixed lump-sum)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46120"/>
            <a:ext cx="9144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Scope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03320"/>
            <a:ext cx="112772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F26"/>
                </a:solidFill>
                <a:latin typeface="Calibri"/>
              </a:rPr>
              <a:t>Build 30 RV lots: mobilization + excavation, rough grade, driveway/culvert, utility trenching (electrical, plumbing, septic), individual meters per lot, water lines, septic tank + sewer, final grading, storm drain + detention, rip-rap, 6-ft cedar wood fencing each lot, metal gate each lot, 8x8 storage shed each lot, 30 trees, mulch + sod, park lights, dumpster/storage/laundromat sheds, 150-LF retaining wall, laundromat building. Storm shelter in scope.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usfws-san-marcos-140FC126R0017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Past performance — Project 2 of 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B2545"/>
                </a:solidFill>
                <a:latin typeface="Calibri"/>
              </a:rPr>
              <a:t>Holiday Inn (Hall Park) — hospitality renovation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Owner: Holiday Inn franchisee at Hall Park, Frisco, 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04288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Contract value: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96896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Completion: 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9504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Role: GC   ·   Delivery: —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46120"/>
            <a:ext cx="9144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Scope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03320"/>
            <a:ext cx="112772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F26"/>
                </a:solidFill>
                <a:latin typeface="Calibri"/>
              </a:rPr>
              <a:t>Commercial renovation projects for hospitality client per Rocky Nudurupati's professional profile.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usfws-san-marcos-140FC126R0017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Past performance — Project 3 of 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B2545"/>
                </a:solidFill>
                <a:latin typeface="Calibri"/>
              </a:rPr>
              <a:t>Hindu Temple of Southlake — Place of Religious Worship renovation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Owner: North Texas Hindu Heritage Society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04288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Contract value: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96896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Completion: 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9504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Role: GC   ·   Delivery: Negotiated lump-sum (owner direct)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46120"/>
            <a:ext cx="9144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Scope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03320"/>
            <a:ext cx="112772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F26"/>
                </a:solidFill>
                <a:latin typeface="Calibri"/>
              </a:rPr>
              <a:t>≈10,700 SF Assembly A-3 (Place of Religious Worship) renovation including demolition, finishes, toilet partitions (phenolic), and partition framework. Drawings on file dated 2025-06-20 (PDF), 2025-09-12 (Arch + Structural updates).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usfws-san-marcos-140FC126R0017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Schedule milestones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400800"/>
              </a:tblGrid>
              <a:tr h="15240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Date / duration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</a:tr>
              <a:tr h="15240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URL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`https://sam.gov/` → Sign 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240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Credentials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the firm's **Entity Administrator** (NOT a regular SAM user). If unsure who tha…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usfws-san-marcos-140FC126R0017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Quality &amp; safety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QC: &gt; Source: FAR 52.228-15 (Performance and Payment Bonds — Construction) + RFP §L.2.1.3.(b) (p.65) + Treasury Department Circular 570 (`https://fiscal.treasury.gov/surety-bonds/circular-570.html`). &gt; &gt; **What this is:** A letter on **Tre…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Safety: &gt; Source: FAR 52.228-1 (Bid Guarantee, SEP 1996) + RFP §L.2.1.5 (p.66) + GSA Standard Form 24 instructions. &gt; &gt; **What this is:** The Bid Guarantee accompanying Volume I per L.2.1.5. Per FAR 52.228-1(c), the penal amount is **20% o…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(Additional QC / safety detail in the full proposal.)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(Additional QC / safety detail in the full proposal.)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usfws-san-marcos-140FC126R0017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Price proposal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77295" cy="18288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73152" cy="18288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4750"/>
                </a:solidFill>
                <a:latin typeface="Calibri"/>
              </a:rPr>
              <a:t>TOTAL PROPOSED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B2545"/>
                </a:solidFill>
                <a:latin typeface="Calibri"/>
              </a:rPr>
              <a:t>$____________________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F26"/>
                </a:solidFill>
                <a:latin typeface="Calibri"/>
              </a:rPr>
              <a:t>Source: RFP p.3 + §L.1.1 + §L.1.2 (pp.63–64) + §L.2.1 (pp.64–66). &gt; &gt; **Submission method (verified):** **EMAIL.** This is a FAR Part 15 negotiated RFP. There is no sealed-bid envelope, no public bid opening, no FedEx-vs-USPS decision tree…</a:t>
            </a:r>
          </a:p>
          <a:p>
            <a:pPr algn="l"/>
            <a:r>
              <a:rPr sz="1500" b="0" i="0">
                <a:solidFill>
                  <a:srgbClr val="1A1F26"/>
                </a:solidFill>
                <a:latin typeface="Calibri"/>
              </a:rPr>
              <a:t>(See full proposal for itemized pricing detail.)</a:t>
            </a:r>
          </a:p>
          <a:p>
            <a:pPr algn="l"/>
            <a:r>
              <a:rPr sz="1500" b="0" i="0">
                <a:solidFill>
                  <a:srgbClr val="1A1F26"/>
                </a:solidFill>
                <a:latin typeface="Calibri"/>
              </a:rPr>
              <a:t>(See full proposal for itemized pricing detail.)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usfws-san-marcos-140FC126R0017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Why Blue Print Constructs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Texas-based small business — self-perform across 8 core trades.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Diverse-business posture: TX HUB, DFW MSDC MBE, Small Business, Minority-owned.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Sector breadth: Residential, Commercial, Industrial, Institutional.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Founder-led PMP / CSM operator with 22 years delivery leadership — Ravikiran (Rocky) Nudurupati.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usfws-san-marcos-140FC126R0017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4A017"/>
                </a:solidFill>
                <a:latin typeface="Calibri"/>
              </a:rPr>
              <a:t>THANK YOU FOR YOUR CONSIDERATION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38190" y="3108960"/>
            <a:ext cx="9144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Ravikiran (Rocky) Nudurupati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673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Founder &amp; Managing Director / Owner (100%)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5137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rocky@blueprintconstructs.com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3542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(469) 213-1838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19472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https://www.blueprintconstructs.com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4A017"/>
                </a:solidFill>
                <a:latin typeface="Calibri"/>
              </a:rPr>
              <a:t>Bid usfws-san-marcos-140FC126R0017   ·   2026-05-23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