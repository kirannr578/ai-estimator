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pc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4704" y="777240"/>
            <a:ext cx="2743200" cy="19401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23774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4A017"/>
                </a:solidFill>
                <a:latin typeface="Calibri"/>
              </a:rPr>
              <a:t>BLUE PRINT CONSTRUCTS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88920"/>
            <a:ext cx="11277295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Proposal package — TAMU Wehner Finance Rm 340E (Sol SSC-2025-06871)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348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Solicitation: 2025-06871</a:t>
            </a:r>
          </a:p>
        </p:txBody>
      </p:sp>
      <p:sp>
        <p:nvSpPr>
          <p:cNvPr id="8" name="Rectangle 7"/>
          <p:cNvSpPr/>
          <p:nvPr/>
        </p:nvSpPr>
        <p:spPr>
          <a:xfrm>
            <a:off x="5638190" y="5029200"/>
            <a:ext cx="9144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2120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FFFFFF"/>
                </a:solidFill>
                <a:latin typeface="Calibri"/>
              </a:rPr>
              <a:t>Blue Print Constructs (legal: RK Residential Homes and Commercial Constructions, LLC)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62356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4A017"/>
                </a:solidFill>
                <a:latin typeface="Calibri"/>
              </a:rPr>
              <a:t>Submission date __________   ·   Document prepared 2026-05-27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About Blue Print Constructs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Blue Print Constructs — legal entity RK Residential Homes and Commercial Constructions, LLC; founded 2022, Texas-incorporated, founder-led.</a:t>
            </a:r>
          </a:p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NAICS: primary 236220 (Commercial &amp; Institutional Building Construction); 13 codes registered.</a:t>
            </a:r>
          </a:p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Federal IDs: UEI LM4YHVQ71QG7 · CAGE 9LET0 · SAM.gov status: active.</a:t>
            </a:r>
          </a:p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Set-aside posture: Texas HUB, DFW MSDC MBE, Small Business, Minority-owned</a:t>
            </a:r>
          </a:p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Self-perform trades: Interior and exterior painting, Drywall and sheetrock — install, tape, bed, texture, Tile setting, Flooring — laminate, vinyl, LVT, tile, hardwood refinish, Trims and baseboards / crown molding / interior carpentry, Roofing (composition, flat, metal — repairs and replacement).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900" b="0" i="0">
                <a:solidFill>
                  <a:srgbClr val="777777"/>
                </a:solidFill>
                <a:latin typeface="Calibri"/>
              </a:rPr>
              <a:t>Blue Print Constructs   ·   tamu-wehner-fin-340E-2025-06871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446520"/>
            <a:ext cx="2133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77777"/>
                </a:solidFill>
                <a:latin typeface="Calibri"/>
              </a:rPr>
              <a:t>Slide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Project understanding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The project expands the existing Finance Seminar Room 340E into adjacent rooms A, D, and DA, creating a unified seminar space along the Wehner Building corridor. The scope encompasses selective demolition of existing partitions, sink, appliances, casework, and cabinetry; install…</a:t>
            </a:r>
          </a:p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(See full proposal for additional detail.)</a:t>
            </a:r>
          </a:p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(See full proposal for additional detail.)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900" b="0" i="0">
                <a:solidFill>
                  <a:srgbClr val="777777"/>
                </a:solidFill>
                <a:latin typeface="Calibri"/>
              </a:rPr>
              <a:t>Blue Print Constructs   ·   tamu-wehner-fin-340E-2025-06871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446520"/>
            <a:ext cx="2133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77777"/>
                </a:solidFill>
                <a:latin typeface="Calibri"/>
              </a:rPr>
              <a:t>Slide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Technical approach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B2545"/>
                </a:solidFill>
                <a:latin typeface="Calibri"/>
              </a:rPr>
              <a:t>Understanding the work:</a:t>
            </a:r>
            <a:r>
              <a:rPr sz="1700" b="0" i="0">
                <a:solidFill>
                  <a:srgbClr val="1A1F26"/>
                </a:solidFill>
                <a:latin typeface="Calibri"/>
              </a:rPr>
              <a:t> Blue Print Constructs (BPC) understands the scope is to expand Finance Seminar Room 340E into adjacent rooms A, D, and DA, creating a unified seminar space along the Wehner Building corridor. Critica…</a:t>
            </a:r>
          </a:p>
          <a:p>
            <a:pPr algn="l"/>
            <a:r>
              <a:rPr sz="1700" b="1" i="0">
                <a:solidFill>
                  <a:srgbClr val="0B2545"/>
                </a:solidFill>
                <a:latin typeface="Calibri"/>
              </a:rPr>
              <a:t>Critical-path analysis:</a:t>
            </a:r>
            <a:r>
              <a:rPr sz="1700" b="0" i="0">
                <a:solidFill>
                  <a:srgbClr val="1A1F26"/>
                </a:solidFill>
                <a:latin typeface="Calibri"/>
              </a:rPr>
              <a:t> The longest pole is **MARRS glazing lead-time** (typically 4-8 weeks from order to install). Strategy:</a:t>
            </a:r>
          </a:p>
          <a:p>
            <a:pPr algn="l"/>
            <a:r>
              <a:rPr sz="1700" b="1" i="0">
                <a:solidFill>
                  <a:srgbClr val="0B2545"/>
                </a:solidFill>
                <a:latin typeface="Calibri"/>
              </a:rPr>
              <a:t>Project sequencing (by phase):</a:t>
            </a:r>
            <a:r>
              <a:rPr sz="1700" b="0" i="0">
                <a:solidFill>
                  <a:srgbClr val="1A1F26"/>
                </a:solidFill>
                <a:latin typeface="Calibri"/>
              </a:rPr>
              <a:t> - Submittals to SSC PM + TAMU EHS review - MARRS material order (long-lead) - Subcontractor execution + insurance/bond verification - TAMU IT pre-coordination meeting - Site survey + final field meas…</a:t>
            </a:r>
          </a:p>
          <a:p>
            <a:pPr algn="l"/>
            <a:r>
              <a:rPr sz="1700" b="1" i="0">
                <a:solidFill>
                  <a:srgbClr val="0B2545"/>
                </a:solidFill>
                <a:latin typeface="Calibri"/>
              </a:rPr>
              <a:t>Minimal-disruption approach (Mays Business School operations):</a:t>
            </a:r>
            <a:r>
              <a:rPr sz="1700" b="0" i="0">
                <a:solidFill>
                  <a:srgbClr val="1A1F26"/>
                </a:solidFill>
                <a:latin typeface="Calibri"/>
              </a:rPr>
              <a:t> Mays Business School operates ~7am-10pm weekdays + Saturday business hours. BPC's mitigation:</a:t>
            </a:r>
          </a:p>
          <a:p>
            <a:pPr algn="l"/>
            <a:r>
              <a:rPr sz="1700" b="1" i="0">
                <a:solidFill>
                  <a:srgbClr val="0B2545"/>
                </a:solidFill>
                <a:latin typeface="Calibri"/>
              </a:rPr>
              <a:t>Materials + equipment + labor:</a:t>
            </a:r>
            <a:r>
              <a:rPr sz="1700" b="0" i="0">
                <a:solidFill>
                  <a:srgbClr val="1A1F26"/>
                </a:solidFill>
                <a:latin typeface="Calibri"/>
              </a:rPr>
              <a:t> - Carpet tile or LVT (TAMU finish standard — per spec) - 6" rubber base - Acoustic ceiling tile + grid - Gypsum board (5/8" type X) - Paint (TAMU palette — likely SW Agreeable Gray or PPG equivalent)…</a:t>
            </a:r>
          </a:p>
          <a:p>
            <a:pPr algn="l"/>
            <a:r>
              <a:rPr sz="1700" b="1" i="0">
                <a:solidFill>
                  <a:srgbClr val="0B2545"/>
                </a:solidFill>
                <a:latin typeface="Calibri"/>
              </a:rPr>
              <a:t>QC + Safety plans:</a:t>
            </a:r>
            <a:r>
              <a:rPr sz="1700" b="0" i="0">
                <a:solidFill>
                  <a:srgbClr val="1A1F26"/>
                </a:solidFill>
                <a:latin typeface="Calibri"/>
              </a:rPr>
              <a:t> See `06-quality-control-plan.md` and `07-safety-plan.md` for full plans. Highlights: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900" b="0" i="0">
                <a:solidFill>
                  <a:srgbClr val="777777"/>
                </a:solidFill>
                <a:latin typeface="Calibri"/>
              </a:rPr>
              <a:t>Blue Print Constructs   ·   tamu-wehner-fin-340E-2025-06871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446520"/>
            <a:ext cx="2133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77777"/>
                </a:solidFill>
                <a:latin typeface="Calibri"/>
              </a:rPr>
              <a:t>Slide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Project team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109728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6400800"/>
              </a:tblGrid>
              <a:tr h="22860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Named lead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</a:tr>
              <a:tr h="2286000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F26"/>
                          </a:solidFill>
                          <a:latin typeface="Calibri"/>
                        </a:rPr>
                        <a:t>Key personnel resumes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F26"/>
                          </a:solidFill>
                          <a:latin typeface="Calibri"/>
                        </a:rPr>
                        <a:t>____________________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900" b="0" i="0">
                <a:solidFill>
                  <a:srgbClr val="777777"/>
                </a:solidFill>
                <a:latin typeface="Calibri"/>
              </a:rPr>
              <a:t>Blue Print Constructs   ·   tamu-wehner-fin-340E-2025-06871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446520"/>
            <a:ext cx="2133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77777"/>
                </a:solidFill>
                <a:latin typeface="Calibri"/>
              </a:rPr>
              <a:t>Slide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Past performance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(No past-performance picks configured for this bid in firm-profile.json — see full proposal for the complete roster.)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900" b="0" i="0">
                <a:solidFill>
                  <a:srgbClr val="777777"/>
                </a:solidFill>
                <a:latin typeface="Calibri"/>
              </a:rPr>
              <a:t>Blue Print Constructs   ·   tamu-wehner-fin-340E-2025-06871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446520"/>
            <a:ext cx="2133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77777"/>
                </a:solidFill>
                <a:latin typeface="Calibri"/>
              </a:rPr>
              <a:t>Slide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Schedule milestones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109728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6400800"/>
              </a:tblGrid>
              <a:tr h="9144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Milestone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Date / duration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F26"/>
                          </a:solidFill>
                          <a:latin typeface="Calibri"/>
                        </a:rPr>
                        <a:t>Notice to proceed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F26"/>
                          </a:solidFill>
                          <a:latin typeface="Calibri"/>
                        </a:rPr>
                        <a:t>____________________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F26"/>
                          </a:solidFill>
                          <a:latin typeface="Calibri"/>
                        </a:rPr>
                        <a:t>Mobilization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F26"/>
                          </a:solidFill>
                          <a:latin typeface="Calibri"/>
                        </a:rPr>
                        <a:t>____________________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F26"/>
                          </a:solidFill>
                          <a:latin typeface="Calibri"/>
                        </a:rPr>
                        <a:t>Substantial completion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F26"/>
                          </a:solidFill>
                          <a:latin typeface="Calibri"/>
                        </a:rPr>
                        <a:t>____________________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F26"/>
                          </a:solidFill>
                          <a:latin typeface="Calibri"/>
                        </a:rPr>
                        <a:t>Final completion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F26"/>
                          </a:solidFill>
                          <a:latin typeface="Calibri"/>
                        </a:rPr>
                        <a:t>____________________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900" b="0" i="0">
                <a:solidFill>
                  <a:srgbClr val="777777"/>
                </a:solidFill>
                <a:latin typeface="Calibri"/>
              </a:rPr>
              <a:t>Blue Print Constructs   ·   tamu-wehner-fin-340E-2025-06871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446520"/>
            <a:ext cx="2133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77777"/>
                </a:solidFill>
                <a:latin typeface="Calibri"/>
              </a:rPr>
              <a:t>Slide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Quality &amp; safety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QC: Blue Print Constructs (BPC) treats quality as a continuous discipline, not a final-inspection event. Our QC plan rests on three pillars:</a:t>
            </a:r>
          </a:p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Safety: &gt; Per `firm/firm-profile.json → safety_performance`, BPC's EMR / TRIR / LTIR figures are not currently surfaced. User must populate before submission.</a:t>
            </a:r>
          </a:p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(Additional QC / safety detail in the full proposal.)</a:t>
            </a:r>
          </a:p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(Additional QC / safety detail in the full proposal.)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900" b="0" i="0">
                <a:solidFill>
                  <a:srgbClr val="777777"/>
                </a:solidFill>
                <a:latin typeface="Calibri"/>
              </a:rPr>
              <a:t>Blue Print Constructs   ·   tamu-wehner-fin-340E-2025-06871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446520"/>
            <a:ext cx="2133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77777"/>
                </a:solidFill>
                <a:latin typeface="Calibri"/>
              </a:rPr>
              <a:t>Slide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Price proposal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77295" cy="18288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8288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A4750"/>
                </a:solidFill>
                <a:latin typeface="Calibri"/>
              </a:rPr>
              <a:t>TOTAL PROPOSED PRICE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9659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0B2545"/>
                </a:solidFill>
                <a:latin typeface="Calibri"/>
              </a:rPr>
              <a:t>$____________________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520440"/>
            <a:ext cx="112772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F26"/>
                </a:solidFill>
                <a:latin typeface="Calibri"/>
              </a:rPr>
              <a:t>**Target lump-sum: $145,000–$175,000** (mid-pack competitive positioning per `../06-evaluation-strategy.md`). All final pricing requires takeoff completion + sub quotes received.</a:t>
            </a:r>
          </a:p>
          <a:p>
            <a:pPr algn="l"/>
            <a:r>
              <a:rPr sz="1500" b="0" i="0">
                <a:solidFill>
                  <a:srgbClr val="1A1F26"/>
                </a:solidFill>
                <a:latin typeface="Calibri"/>
              </a:rPr>
              <a:t>(See full proposal for itemized pricing detail.)</a:t>
            </a:r>
          </a:p>
          <a:p>
            <a:pPr algn="l"/>
            <a:r>
              <a:rPr sz="1500" b="0" i="0">
                <a:solidFill>
                  <a:srgbClr val="1A1F26"/>
                </a:solidFill>
                <a:latin typeface="Calibri"/>
              </a:rPr>
              <a:t>(See full proposal for itemized pricing detail.)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900" b="0" i="0">
                <a:solidFill>
                  <a:srgbClr val="777777"/>
                </a:solidFill>
                <a:latin typeface="Calibri"/>
              </a:rPr>
              <a:t>Blue Print Constructs   ·   tamu-wehner-fin-340E-2025-06871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446520"/>
            <a:ext cx="2133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77777"/>
                </a:solidFill>
                <a:latin typeface="Calibri"/>
              </a:rPr>
              <a:t>Slide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Why Blue Print Constructs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Texas-based small business — self-perform across 8 core trades.</a:t>
            </a:r>
          </a:p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Diverse-business posture: TX HUB, DFW MSDC MBE, Small Business, Minority-owned.</a:t>
            </a:r>
          </a:p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Sector breadth: Residential, Commercial, Industrial, Institutional.</a:t>
            </a:r>
          </a:p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Founder-led PMP / CSM operator with 22 years delivery leadership — Ravikiran (Rocky) Nudurupati.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900" b="0" i="0">
                <a:solidFill>
                  <a:srgbClr val="777777"/>
                </a:solidFill>
                <a:latin typeface="Calibri"/>
              </a:rPr>
              <a:t>Blue Print Constructs   ·   tamu-wehner-fin-340E-2025-06871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446520"/>
            <a:ext cx="2133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77777"/>
                </a:solidFill>
                <a:latin typeface="Calibri"/>
              </a:rPr>
              <a:t>Slide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  <a:latin typeface="Calibri"/>
              </a:rPr>
              <a:t>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4A017"/>
                </a:solidFill>
                <a:latin typeface="Calibri"/>
              </a:rPr>
              <a:t>THANK YOU FOR YOUR CONSIDERATION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8190" y="3108960"/>
            <a:ext cx="9144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3832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Ravikiran (Rocky) Nudurupati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67328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Founder &amp; Managing Director / Owner (100%)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51376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rocky@blueprintconstructs.com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35424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(469) 213-1838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919472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https://www.blueprintconstructs.com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4A017"/>
                </a:solidFill>
                <a:latin typeface="Calibri"/>
              </a:rPr>
              <a:t>Bid tamu-wehner-fin-340E-2025-06871   ·   2026-05-27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